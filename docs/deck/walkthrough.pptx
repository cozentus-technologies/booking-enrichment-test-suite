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reading, not the code. Each row is a decision a reviewer could have made differently; all four are visible in the repository rather than described in a document. [F-06] [F-10] [F-04] [F-05]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point: the boundary is enforced by the build, not by convention. If someone added a dependency on the service to make a test easier, the project would stop being a black-box suite and the build would show it. [F-01] [F-02] [F-03] [F-04]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diagram left to right. The dashed line is a real process boundary. The three topic names are read from test-local.properties. Under the local profile each scenario gets its own topic triple and consumer group; under external the configured names are used verbatim. [F-04] [F-05] [F-06] [F-07] [F-08]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 that no throughput figure is asserted anywhere in the suite; the volume tier is correctness at scale. Code coverage belongs to the development team's unit tests. [GAPS 2.2] [GAPS 2.3]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a row. The columns are caseId, field, input, expected, outcome, reason, confidence, tags, note. A business analyst adds a city variant by adding a row. [F-13] [F-14] [F-15] [F-16]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maintenance argument: a new city case is one CSV row; a new rule is one feature file; a Kafka client upgrade touches harness/ and nothing else. 3 of 11 files in harness/ import org.apache.kafka; no other package does. [F-05] [F-02] [F-03]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line is the important one. A tag filter matching nothing used to report success; it now exits 1. [F-18] [F-19] [F-24] [F-32]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candid: the mutation check found a real bug in work produced this way - an assertion that located a message by the key it then asserted. The guardrail is that nothing generated is trusted until it has been shown to fail. [F-26] [GAPS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stub means the suite can be proved able to fail without touching the service - which matters because against a client-hosted service you could not touch it anyway. The whole check runs with the service jar absent from disk. [F-26]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DEF-111. The mutation check disproved the specification's own claim: a flagged booking leaked onto the enriched topic while TC-42 stayed green. That is why the verdict is conditional rather than clean. [F-27] [F-31] [GAPS 2.4] [GAPS 2.5] [GAPS 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The assignment, and what it left open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Four things the brief did not specify. Each was decided in code, and the decision is visible in the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480560"/>
                <a:gridCol w="310896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Left open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Decision taken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Where a booking that cannot be matched goes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A dedicated booking.flagged topic, not a status 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test-local.properties:31-33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How close a match must be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Confidence floor 0.85 plus an edit-distance cap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CityMatcher.java:21-26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What happens when two cities tie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Rejected as ambiguous, never tie-broken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AMBIGUOUS_*_CITY flag reasons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Real broker or in-memory fake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A real Kafka broker, and a real process boundary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KafkaServiceHarness, ServiceController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What was given, what was built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No system under test was supplied, so one was written. The suite is a separate project with no build-time knowledge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556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035040"/>
                <a:gridCol w="192024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Artefact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city-enrichment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The service under test, its own Maven project and git repository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separate repo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booking-enrichment-test-suite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The black-box suite, its own Maven project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separate repo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Dependency between them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None. The only mention in the build file asserts the deliberate absence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0 dependencies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Test code reaching inside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No test imports a service internal package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0 imports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How they meet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java -jar in a separate OS process, and a Kafka broker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ProcessBuilder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Interface, and where the tests attach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Both crossings are real: an operating-system process, and a network hop to a broker.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03</a:t>
            </a:r>
          </a:p>
        </p:txBody>
      </p:sp>
      <p:pic>
        <p:nvPicPr>
          <p:cNvPr id="7" name="Picture 6" descr="interf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11277295" cy="5814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Scope, and what is deliberately out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The exclusions are decisions with reasons, not omissions.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9415E"/>
                </a:solidFill>
                <a:latin typeface="Calibri"/>
              </a:rPr>
              <a:t>In scope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9415E"/>
                </a:solidFill>
                <a:latin typeface="Calibri"/>
              </a:rPr>
              <a:t>•  City correction on both origin and destination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9415E"/>
                </a:solidFill>
                <a:latin typeface="Calibri"/>
              </a:rPr>
              <a:t>•  Routing, proven in both directions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9415E"/>
                </a:solidFill>
                <a:latin typeface="Calibri"/>
              </a:rPr>
              <a:t>•  Message contract: key, headers, timestamp, ordering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9415E"/>
                </a:solidFill>
                <a:latin typeface="Calibri"/>
              </a:rPr>
              <a:t>•  Schema conformance against three JSON schemas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9415E"/>
                </a:solidFill>
                <a:latin typeface="Calibri"/>
              </a:rPr>
              <a:t>•  Resilience: malformed input, duplicates, consumer restart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9415E"/>
                </a:solidFill>
                <a:latin typeface="Calibri"/>
              </a:rPr>
              <a:t>•  Correctness at scale across 1,000 bookings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9415E"/>
                </a:solidFill>
                <a:latin typeface="Calibri"/>
              </a:rPr>
              <a:t>Out of scope, and why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•  Throughput and latency - needs a dedicated environment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•  Broker failure injection - needs Toxiproxy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•  Schema evolution - needs a schema registry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•  Contract testing against TMS - no contract supplied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B6B78"/>
                </a:solidFill>
                <a:latin typeface="Calibri"/>
              </a:rPr>
              <a:t>•  Code coverage - not producible from a black-box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Coverage, in real numbers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99 scenarios are declared and expand to 101 executions. Counts are parsed from cucumber.json, not read from build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576072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Feature file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city_correction (generated)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booking_enrichment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schema_contract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resilience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message_contract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edge_cases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routing_and_flagging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6916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9415E"/>
                </a:solidFill>
                <a:latin typeface="Calibri"/>
              </a:rPr>
              <a:t>The data table drives 50 of them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5B6B78"/>
                </a:solidFill>
                <a:latin typeface="Calibri"/>
              </a:rPr>
              <a:t>src/test/resources/testdata/city-cases.csv - 50 rows, 9 columns.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9415E"/>
                </a:solidFill>
                <a:latin typeface="Consolas"/>
              </a:rPr>
              <a:t>TC-01,origin,Mumbai,Mumbai,ENRICHED,,exact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9415E"/>
                </a:solidFill>
                <a:latin typeface="Consolas"/>
              </a:rPr>
              <a:t>TC-11,origin,Pne,Pune,ENRICHED,,fuzzy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9415E"/>
                </a:solidFill>
                <a:latin typeface="Consolas"/>
              </a:rPr>
              <a:t>TC-13,origin,Pn,,FLAGGED,UNMATCHED,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9415E"/>
                </a:solidFill>
                <a:latin typeface="Consolas"/>
              </a:rPr>
              <a:t>TC-19,origin,&lt;ABSENT&gt;,,FLAGGED,MISSING,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5B6B78"/>
                </a:solidFill>
                <a:latin typeface="Calibri"/>
              </a:rPr>
              <a:t>Every case is stated once for origin and once for destination, so no rule is proven on one field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How it is built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One package touches the transport. That is the whole coupling surface to Kafka.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06</a:t>
            </a:r>
          </a:p>
        </p:txBody>
      </p:sp>
      <p:pic>
        <p:nvPicPr>
          <p:cNvPr id="7" name="Picture 6" descr="laye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11277295" cy="5462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Execution and reporting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Measured on this machine: mvn clean test -Pkafka, exit 0, 4 minutes 9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59436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92024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./run-tests.sh smoke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./run-tests.sh contract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./run-tests.sh functional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./run-tests.sh full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mvn clean test -Pkafka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6916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9415E"/>
                </a:solidFill>
                <a:latin typeface="Calibri"/>
              </a:rPr>
              <a:t>What a run produces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282 tests, 0 failures, 0 errors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cucumber.json, cucumber.xml, index.html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report-data.json - every figure traces here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scenario-coverage.md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test-execution-summary-report.html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5B6B78"/>
                </a:solidFill>
                <a:latin typeface="Calibri"/>
              </a:rPr>
              <a:t>A run that selects no scenario fails the build, so a green build cannot mean nothing ran.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AI-assisted workflow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Only what was actually done in this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572000"/>
                <a:gridCol w="411480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AI did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kept it honest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Scenario derivation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Drafted scenarios and edge cases from the written spec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Every generated expectation verified by the mutation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Test data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Generated misspelling variants for the CSV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Boundary rows measured against the running service, not assumed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Gap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Enumerated what the contract allows and the suite never asserted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Build guards now fail if a gap reopens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A second pass over assertions for ones that could not fail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Three were found and rewritten; a stub proves they now fail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Proving the suite can fail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A green suite proves nothing on its own. A contract stub replays fixtures in place of the 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9415E"/>
                </a:solidFill>
                <a:latin typeface="Calibri"/>
              </a:rPr>
              <a:t>15 fixtures, each breaking exactly one rule. Last run: baseline green over 99 cases, and all 15 turned exactly their expected scenarios red - no more, no fewer.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743200"/>
          <a:ext cx="111556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  <a:gridCol w="329184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Fixture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breaks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Turns red</a:t>
                      </a:r>
                    </a:p>
                  </a:txBody>
                  <a:tcPr anchor="ctr">
                    <a:solidFill>
                      <a:srgbClr val="1941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mut-floor-lowered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Accepts an input below the confidence 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TC-77, TC-177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mut-no-collapse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Leaves internal whitespace uncollapsed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TC-05, TC-80, TC-105, TC-180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mut-const-key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Emits a constant message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TC-35, TC-36, TC-52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mut-silent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Emits nothing at all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TC-32, TC-63</a:t>
                      </a:r>
                    </a:p>
                  </a:txBody>
                  <a:tcPr anchor="ctr">
                    <a:solidFill>
                      <a:srgbClr val="EFEF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mut-route-swap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Swaps one enriched and one flagged booking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9415E"/>
                          </a:solidFill>
                          <a:latin typeface="Calibri"/>
                        </a:rPr>
                        <a:t>TC-60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z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09360"/>
            <a:ext cx="2286000" cy="411480"/>
          </a:xfrm>
          <a:prstGeom prst="rect">
            <a:avLst/>
          </a:prstGeom>
        </p:spPr>
      </p:pic>
      <p:pic>
        <p:nvPicPr>
          <p:cNvPr id="3" name="Picture 2" descr="Company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6309360"/>
            <a:ext cx="20574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9415E"/>
                </a:solidFill>
                <a:latin typeface="Calibri"/>
              </a:rPr>
              <a:t>Decisions, trade-offs, and what is next</a:t>
            </a:r>
          </a:p>
          <a:p>
            <a:pPr>
              <a:spcAft>
                <a:spcPts val="0"/>
              </a:spcAft>
            </a:pPr>
            <a:r>
              <a:rPr sz="1350" b="0">
                <a:solidFill>
                  <a:srgbClr val="5B6B78"/>
                </a:solidFill>
                <a:latin typeface="Calibri"/>
              </a:rPr>
              <a:t>Where the suite stands, stated as measured.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26A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9415E"/>
                </a:solidFill>
                <a:latin typeface="Calibri"/>
              </a:rPr>
              <a:t>Held up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Boundary enforced by the build, not convention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Portable: runs against a service it did not start, jar absent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Report computes its figures; none is a literal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Traceability regenerated and guarded against drift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9415E"/>
                </a:solidFill>
                <a:latin typeface="Calibri"/>
              </a:rPr>
              <a:t>•  Fails fast: 14s to abort on a dead broker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9415E"/>
                </a:solidFill>
                <a:latin typeface="Calibri"/>
              </a:rPr>
              <a:t>Open, and stated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B6B78"/>
                </a:solidFill>
                <a:latin typeface="Calibri"/>
              </a:rPr>
              <a:t>•  DEF-111: routing exclusivity has one mechanism, not the two the spec claims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B6B78"/>
                </a:solidFill>
                <a:latin typeface="Calibri"/>
              </a:rPr>
              <a:t>•  Two metrics render 'not measured' until history exists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B6B78"/>
                </a:solidFill>
                <a:latin typeface="Calibri"/>
              </a:rPr>
              <a:t>•  Reference data is 8 cities, not a real gazetteer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B6B78"/>
                </a:solidFill>
                <a:latin typeface="Calibri"/>
              </a:rPr>
              <a:t>•  The confidence threshold has no named owner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26A9BE"/>
                </a:solidFill>
                <a:latin typeface="Calibri"/>
              </a:rPr>
              <a:t>Report verdict: Proceed with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