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framing: the brief asked for a test; the response is a test approach. Everything on the following slides is measured from the repository, not estimated.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numbers so the rest is concrete. 99 scenarios expand to 101 executions because three are Scenario Outlines, two carrying two example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second point is the one that separates this from most suites. A green suite proves nothing on its own; this one has been shown to go red on demand, without touching the service - which matters because against a client-hosted service you could not touch it anyway.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about volume: it answers 'did anything get lost, duplicated or misrouted across a thousand bookings' - every id appears exactly once across both topics, the flagged set equals the set the data says should flag, and per-reason counts match the oracle.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enforcement is the point. Tagging rots within a sprint otherwise. @smoke was originally listed as a type, which made it mutually exclusive with @functional - so the smoke profile selected zero scenarios and still reported success. Selection is now its own axis.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it left to right. The dashed line is a real process boundary. Under the local profile each scenario provisions its own topics and consumer group and starts its own service instance.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Offer the live demo here: trigger manual-run with a single tag, about two minutes, and it produces the report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line to land: a business analyst adds a city variant by adding a row, and if they forget something the build tells them which file to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seven spec files supply what a single run cannot know - above all the planned set, which is the denominator for every completeness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of fifteen shown. The results table in the repository is generated from the runs, never typed. This mechanism found a genuine defect in our own assertions during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here. A suite that contradicts its own specification, with evidence, is the suite doing its job. Offer to run any slice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z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309360"/>
            <a:ext cx="2286000" cy="411480"/>
          </a:xfrm>
          <a:prstGeom prst="rect">
            <a:avLst/>
          </a:prstGeom>
        </p:spPr>
      </p:pic>
      <p:pic>
        <p:nvPicPr>
          <p:cNvPr id="3" name="Picture 2" descr="Company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6309360"/>
            <a:ext cx="205740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194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13232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Booking Enrichment Test Suite</a:t>
            </a:r>
          </a:p>
          <a:p>
            <a:pPr>
              <a:spcAft>
                <a:spcPts val="0"/>
              </a:spcAft>
            </a:pPr>
            <a:r>
              <a:rPr sz="1600" b="0" i="0">
                <a:solidFill>
                  <a:srgbClr val="BFDAE6"/>
                </a:solidFill>
                <a:latin typeface="Calibri"/>
              </a:rPr>
              <a:t>Black-box test automation for a Kafka city-enrichment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9415E"/>
                </a:solidFill>
                <a:latin typeface="Calibri"/>
              </a:rPr>
              <a:t>An independent suite that verifies the service only through its message contract - publish in, consume out - and that has been proven able to fail before it was trusted green.</a:t>
            </a:r>
          </a:p>
          <a:p>
            <a:pPr>
              <a:spcAft>
                <a:spcPts val="0"/>
              </a:spcAft>
            </a:pPr>
            <a:r>
              <a:rPr sz="1500" b="1" i="0">
                <a:solidFill>
                  <a:srgbClr val="26A9BE"/>
                </a:solidFill>
                <a:latin typeface="Calibri"/>
              </a:rPr>
              <a:t>99 scenarios  ·  282 tests  ·  15 mutation fixtures  ·  7 build guards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z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309360"/>
            <a:ext cx="2286000" cy="411480"/>
          </a:xfrm>
          <a:prstGeom prst="rect">
            <a:avLst/>
          </a:prstGeom>
        </p:spPr>
      </p:pic>
      <p:pic>
        <p:nvPicPr>
          <p:cNvPr id="3" name="Picture 2" descr="Company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6309360"/>
            <a:ext cx="205740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19415E"/>
                </a:solidFill>
                <a:latin typeface="Calibri"/>
              </a:rPr>
              <a:t>At a glance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5B6B78"/>
                </a:solidFill>
                <a:latin typeface="Calibri"/>
              </a:rPr>
              <a:t>Every figure measured from a full run, not estimated.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463040" cy="44450"/>
          </a:xfrm>
          <a:prstGeom prst="rect">
            <a:avLst/>
          </a:prstGeom>
          <a:solidFill>
            <a:srgbClr val="26A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20095" y="384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26A9BE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35204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929384"/>
            <a:ext cx="326440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9415E"/>
                </a:solidFill>
                <a:latin typeface="Calibri"/>
              </a:rPr>
              <a:t>99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5B6B78"/>
                </a:solidFill>
                <a:latin typeface="Calibri"/>
              </a:rPr>
              <a:t>Scenarios declared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26A9BE"/>
                </a:solidFill>
                <a:latin typeface="Calibri"/>
              </a:rPr>
              <a:t>101 executed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783080"/>
            <a:ext cx="35204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5696" y="1929384"/>
            <a:ext cx="326440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9415E"/>
                </a:solidFill>
                <a:latin typeface="Calibri"/>
              </a:rPr>
              <a:t>282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5B6B78"/>
                </a:solidFill>
                <a:latin typeface="Calibri"/>
              </a:rPr>
              <a:t>Tests in a full run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26A9BE"/>
                </a:solidFill>
                <a:latin typeface="Calibri"/>
              </a:rPr>
              <a:t>0 failures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783080"/>
            <a:ext cx="35204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0456" y="1929384"/>
            <a:ext cx="326440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9415E"/>
                </a:solidFill>
                <a:latin typeface="Calibri"/>
              </a:rPr>
              <a:t>50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5B6B78"/>
                </a:solidFill>
                <a:latin typeface="Calibri"/>
              </a:rPr>
              <a:t>Data-driven cases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26A9BE"/>
                </a:solidFill>
                <a:latin typeface="Calibri"/>
              </a:rPr>
              <a:t>from one CSV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00400"/>
            <a:ext cx="35204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3346704"/>
            <a:ext cx="326440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9415E"/>
                </a:solidFill>
                <a:latin typeface="Calibri"/>
              </a:rPr>
              <a:t>15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5B6B78"/>
                </a:solidFill>
                <a:latin typeface="Calibri"/>
              </a:rPr>
              <a:t>Mutation fixtures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26A9BE"/>
                </a:solidFill>
                <a:latin typeface="Calibri"/>
              </a:rPr>
              <a:t>15 of 15 matched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200400"/>
            <a:ext cx="35204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5696" y="3346704"/>
            <a:ext cx="326440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9415E"/>
                </a:solidFill>
                <a:latin typeface="Calibri"/>
              </a:rPr>
              <a:t>7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5B6B78"/>
                </a:solidFill>
                <a:latin typeface="Calibri"/>
              </a:rPr>
              <a:t>Build guards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26A9BE"/>
                </a:solidFill>
                <a:latin typeface="Calibri"/>
              </a:rPr>
              <a:t>fail before tests run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3200400"/>
            <a:ext cx="35204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6" y="3346704"/>
            <a:ext cx="326440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9415E"/>
                </a:solidFill>
                <a:latin typeface="Calibri"/>
              </a:rPr>
              <a:t>14s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5B6B78"/>
                </a:solidFill>
                <a:latin typeface="Calibri"/>
              </a:rPr>
              <a:t>To abort on a dead broker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26A9BE"/>
                </a:solidFill>
                <a:latin typeface="Calibri"/>
              </a:rPr>
              <a:t>one clear statement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0060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B78"/>
                </a:solidFill>
                <a:latin typeface="Calibri"/>
              </a:rPr>
              <a:t>A full run is 4 minutes 9 seconds end to end. A tag-filtered slice is seconds. Nothing in this deck is rounded or approximated: each number came from a command that was run.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z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309360"/>
            <a:ext cx="2286000" cy="411480"/>
          </a:xfrm>
          <a:prstGeom prst="rect">
            <a:avLst/>
          </a:prstGeom>
        </p:spPr>
      </p:pic>
      <p:pic>
        <p:nvPicPr>
          <p:cNvPr id="3" name="Picture 2" descr="Company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6309360"/>
            <a:ext cx="205740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19415E"/>
                </a:solidFill>
                <a:latin typeface="Calibri"/>
              </a:rPr>
              <a:t>What makes it different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5B6B78"/>
                </a:solidFill>
                <a:latin typeface="Calibri"/>
              </a:rPr>
              <a:t>Four properties a reviewer can verify, not take on trust.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463040" cy="44450"/>
          </a:xfrm>
          <a:prstGeom prst="rect">
            <a:avLst/>
          </a:prstGeom>
          <a:solidFill>
            <a:srgbClr val="26A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20095" y="384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26A9BE"/>
                </a:solidFill>
                <a:latin typeface="Calibr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50292" cy="868680"/>
          </a:xfrm>
          <a:prstGeom prst="rect">
            <a:avLst/>
          </a:prstGeom>
          <a:solidFill>
            <a:srgbClr val="26A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28216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9415E"/>
                </a:solidFill>
                <a:latin typeface="Calibri"/>
              </a:rPr>
              <a:t>The boundary is physical, not promised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5B6B78"/>
                </a:solidFill>
                <a:latin typeface="Calibri"/>
              </a:rPr>
              <a:t>No dependency on the service artifact, no test importing a service package, and the crossing is a real operating-system process plus a real Kafka broker.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862072"/>
            <a:ext cx="50292" cy="868680"/>
          </a:xfrm>
          <a:prstGeom prst="rect">
            <a:avLst/>
          </a:prstGeom>
          <a:solidFill>
            <a:srgbClr val="26A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80720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9415E"/>
                </a:solidFill>
                <a:latin typeface="Calibri"/>
              </a:rPr>
              <a:t>The suite is proven able to fail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5B6B78"/>
                </a:solidFill>
                <a:latin typeface="Calibri"/>
              </a:rPr>
              <a:t>A contract stub replays fixtures in place of the service. 15 fixtures each break one rule, and all 15 turn exactly their expected scenarios red - no more, no fewer.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941063"/>
            <a:ext cx="50292" cy="868680"/>
          </a:xfrm>
          <a:prstGeom prst="rect">
            <a:avLst/>
          </a:prstGeom>
          <a:solidFill>
            <a:srgbClr val="26A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886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9415E"/>
                </a:solidFill>
                <a:latin typeface="Calibri"/>
              </a:rPr>
              <a:t>The threshold is tested without being stated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5B6B78"/>
                </a:solidFill>
                <a:latin typeface="Calibri"/>
              </a:rPr>
              <a:t>Two cases sit at the same edit distance and differ only in similarity, isolating the confidence floor. The suite states its value nowhere, so retuning it is a business decision, not a failure.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020055"/>
            <a:ext cx="50292" cy="868680"/>
          </a:xfrm>
          <a:prstGeom prst="rect">
            <a:avLst/>
          </a:prstGeom>
          <a:solidFill>
            <a:srgbClr val="26A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96519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9415E"/>
                </a:solidFill>
                <a:latin typeface="Calibri"/>
              </a:rPr>
              <a:t>Regressions cannot land quietly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5B6B78"/>
                </a:solidFill>
                <a:latin typeface="Calibri"/>
              </a:rPr>
              <a:t>Seven build guards run around every execution: tag discipline, flag-reason coverage, planned-set alignment, traceability currency, threshold literals, and two that judge the run itself.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z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309360"/>
            <a:ext cx="2286000" cy="411480"/>
          </a:xfrm>
          <a:prstGeom prst="rect">
            <a:avLst/>
          </a:prstGeom>
        </p:spPr>
      </p:pic>
      <p:pic>
        <p:nvPicPr>
          <p:cNvPr id="3" name="Picture 2" descr="Company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6309360"/>
            <a:ext cx="205740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19415E"/>
                </a:solidFill>
                <a:latin typeface="Calibri"/>
              </a:rPr>
              <a:t>Types of testing performed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5B6B78"/>
                </a:solidFill>
                <a:latin typeface="Calibri"/>
              </a:rPr>
              <a:t>One suite, many techniques, all asserted through the same Kafka message contract.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463040" cy="44450"/>
          </a:xfrm>
          <a:prstGeom prst="rect">
            <a:avLst/>
          </a:prstGeom>
          <a:solidFill>
            <a:srgbClr val="26A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20095" y="384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26A9BE"/>
                </a:solidFill>
                <a:latin typeface="Calibri"/>
              </a:rPr>
              <a:t>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83080"/>
          <a:ext cx="5577840" cy="337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474720"/>
              </a:tblGrid>
              <a:tr h="3749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Technique</a:t>
                      </a:r>
                    </a:p>
                  </a:txBody>
                  <a:tcPr anchor="ctr">
                    <a:solidFill>
                      <a:srgbClr val="194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anchor="ctr">
                    <a:solidFill>
                      <a:srgbClr val="19415E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System / end-to-end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Every scenario, in via booking.raw and 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Black-box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0 imports of service internals, build-enforced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Functional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73 scenarios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Smoke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7 scenarios, under 60 seconds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Regression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95 scenarios in the full profile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Data-driven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50 cases generated from one CSV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Boundary value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Accept and reject either side of each limit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Equivalence partitioning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Nine input classes across the data table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1783080"/>
          <a:ext cx="5486400" cy="337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566160"/>
              </a:tblGrid>
              <a:tr h="3749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Technique</a:t>
                      </a:r>
                    </a:p>
                  </a:txBody>
                  <a:tcPr anchor="ctr">
                    <a:solidFill>
                      <a:srgbClr val="194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anchor="ctr">
                    <a:solidFill>
                      <a:srgbClr val="19415E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Negative testing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Every flagged path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Contract testing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8 scenarios, three JSON schemas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Resilience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13 scenarios, malformed input tolerated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Recovery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No loss when the consumer restarts mid-batch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Idempotency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Duplicate delivery gives an identical outcome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Concurrency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Four publishers at once, nothing lost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Volume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1,000 bookings, correctness at scale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Mutation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15 fixtures - testing the tests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z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309360"/>
            <a:ext cx="2286000" cy="411480"/>
          </a:xfrm>
          <a:prstGeom prst="rect">
            <a:avLst/>
          </a:prstGeom>
        </p:spPr>
      </p:pic>
      <p:pic>
        <p:nvPicPr>
          <p:cNvPr id="3" name="Picture 2" descr="Company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6309360"/>
            <a:ext cx="205740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19415E"/>
                </a:solidFill>
                <a:latin typeface="Calibri"/>
              </a:rPr>
              <a:t>The tag-based approach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5B6B78"/>
                </a:solidFill>
                <a:latin typeface="Calibri"/>
              </a:rPr>
              <a:t>Five axes, and the build refuses a scenario that does not satisfy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463040" cy="44450"/>
          </a:xfrm>
          <a:prstGeom prst="rect">
            <a:avLst/>
          </a:prstGeom>
          <a:solidFill>
            <a:srgbClr val="26A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20095" y="384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26A9BE"/>
                </a:solidFill>
                <a:latin typeface="Calibri"/>
              </a:rPr>
              <a:t>04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6858000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023360"/>
                <a:gridCol w="1463040"/>
              </a:tblGrid>
              <a:tr h="38796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Axis</a:t>
                      </a:r>
                    </a:p>
                  </a:txBody>
                  <a:tcPr anchor="ctr">
                    <a:solidFill>
                      <a:srgbClr val="194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Values</a:t>
                      </a:r>
                    </a:p>
                  </a:txBody>
                  <a:tcPr anchor="ctr">
                    <a:solidFill>
                      <a:srgbClr val="194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anchor="ctr">
                    <a:solidFill>
                      <a:srgbClr val="19415E"/>
                    </a:solidFill>
                  </a:tcPr>
                </a:tc>
              </a:tr>
              <a:tr h="38796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@functional  @contract  @resilience  @volume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exactly 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796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@critical  @high  @medium  @low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exactly one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  <a:tr h="38796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@city-correction  @routing  @flagging  @schema  +4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at least 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796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Selection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@fast  @slow  @nightly  @smoke  @regression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how a run is sliced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  <a:tr h="38796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Traceability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@TC-nn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exactly 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797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Environment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@requires-service-config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9415E"/>
                          </a:solidFill>
                          <a:latin typeface="Calibri"/>
                        </a:rPr>
                        <a:t>enumerated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737360"/>
            <a:ext cx="4114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9415E"/>
                </a:solidFill>
                <a:latin typeface="Calibri"/>
              </a:rPr>
              <a:t>Slice it any way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19415E"/>
                </a:solidFill>
                <a:latin typeface="Consolas"/>
              </a:rPr>
              <a:t>run-tests.sh smoke</a:t>
            </a:r>
          </a:p>
          <a:p>
            <a:pPr>
              <a:spcAft>
                <a:spcPts val="600"/>
              </a:spcAft>
            </a:pPr>
            <a:r>
              <a:rPr sz="1000" b="0" i="0">
                <a:solidFill>
                  <a:srgbClr val="26A9BE"/>
                </a:solidFill>
                <a:latin typeface="Calibri"/>
              </a:rPr>
              <a:t>7 scenarios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19415E"/>
                </a:solidFill>
                <a:latin typeface="Consolas"/>
              </a:rPr>
              <a:t>run-tests.sh contract</a:t>
            </a:r>
          </a:p>
          <a:p>
            <a:pPr>
              <a:spcAft>
                <a:spcPts val="600"/>
              </a:spcAft>
            </a:pPr>
            <a:r>
              <a:rPr sz="1000" b="0" i="0">
                <a:solidFill>
                  <a:srgbClr val="26A9BE"/>
                </a:solidFill>
                <a:latin typeface="Calibri"/>
              </a:rPr>
              <a:t>8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19415E"/>
                </a:solidFill>
                <a:latin typeface="Consolas"/>
              </a:rPr>
              <a:t>run-tests.sh functional</a:t>
            </a:r>
          </a:p>
          <a:p>
            <a:pPr>
              <a:spcAft>
                <a:spcPts val="600"/>
              </a:spcAft>
            </a:pPr>
            <a:r>
              <a:rPr sz="1000" b="0" i="0">
                <a:solidFill>
                  <a:srgbClr val="26A9BE"/>
                </a:solidFill>
                <a:latin typeface="Calibri"/>
              </a:rPr>
              <a:t>38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19415E"/>
                </a:solidFill>
                <a:latin typeface="Consolas"/>
              </a:rPr>
              <a:t>run-tests.sh full</a:t>
            </a:r>
          </a:p>
          <a:p>
            <a:pPr>
              <a:spcAft>
                <a:spcPts val="600"/>
              </a:spcAft>
            </a:pPr>
            <a:r>
              <a:rPr sz="1000" b="0" i="0">
                <a:solidFill>
                  <a:srgbClr val="26A9BE"/>
                </a:solidFill>
                <a:latin typeface="Calibri"/>
              </a:rPr>
              <a:t>95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19415E"/>
                </a:solidFill>
                <a:latin typeface="Consolas"/>
              </a:rPr>
              <a:t>tags="@city-correction"</a:t>
            </a:r>
          </a:p>
          <a:p>
            <a:pPr>
              <a:spcAft>
                <a:spcPts val="600"/>
              </a:spcAft>
            </a:pPr>
            <a:r>
              <a:rPr sz="1000" b="0" i="0">
                <a:solidFill>
                  <a:srgbClr val="26A9BE"/>
                </a:solidFill>
                <a:latin typeface="Calibri"/>
              </a:rPr>
              <a:t>58</a:t>
            </a:r>
          </a:p>
          <a:p>
            <a:pPr>
              <a:spcAft>
                <a:spcPts val="0"/>
              </a:spcAft>
            </a:pPr>
            <a:r>
              <a:rPr sz="1200" b="1" i="0">
                <a:solidFill>
                  <a:srgbClr val="19415E"/>
                </a:solidFill>
                <a:latin typeface="Calibri"/>
              </a:rPr>
              <a:t>A tag filter that selects nothing fails the build - so a mistyped tag can never look like a passing run.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z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309360"/>
            <a:ext cx="2286000" cy="411480"/>
          </a:xfrm>
          <a:prstGeom prst="rect">
            <a:avLst/>
          </a:prstGeom>
        </p:spPr>
      </p:pic>
      <p:pic>
        <p:nvPicPr>
          <p:cNvPr id="3" name="Picture 2" descr="Company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6309360"/>
            <a:ext cx="205740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19415E"/>
                </a:solidFill>
                <a:latin typeface="Calibri"/>
              </a:rPr>
              <a:t>Where the tests attach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5B6B78"/>
                </a:solidFill>
                <a:latin typeface="Calibri"/>
              </a:rPr>
              <a:t>Both crossings are real: an operating-system process, and a network hop to a broker.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463040" cy="44450"/>
          </a:xfrm>
          <a:prstGeom prst="rect">
            <a:avLst/>
          </a:prstGeom>
          <a:solidFill>
            <a:srgbClr val="26A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20095" y="384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26A9BE"/>
                </a:solidFill>
                <a:latin typeface="Calibri"/>
              </a:rPr>
              <a:t>05</a:t>
            </a:r>
          </a:p>
        </p:txBody>
      </p:sp>
      <p:pic>
        <p:nvPicPr>
          <p:cNvPr id="7" name="Picture 6" descr="interfa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645920"/>
            <a:ext cx="11185855" cy="57677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z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309360"/>
            <a:ext cx="2286000" cy="411480"/>
          </a:xfrm>
          <a:prstGeom prst="rect">
            <a:avLst/>
          </a:prstGeom>
        </p:spPr>
      </p:pic>
      <p:pic>
        <p:nvPicPr>
          <p:cNvPr id="3" name="Picture 2" descr="Company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6309360"/>
            <a:ext cx="205740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19415E"/>
                </a:solidFill>
                <a:latin typeface="Calibri"/>
              </a:rPr>
              <a:t>How the pipeline is designed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5B6B78"/>
                </a:solidFill>
                <a:latin typeface="Calibri"/>
              </a:rPr>
              <a:t>Three workflows, each answering one question, sharing one implementation.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463040" cy="44450"/>
          </a:xfrm>
          <a:prstGeom prst="rect">
            <a:avLst/>
          </a:prstGeom>
          <a:solidFill>
            <a:srgbClr val="26A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20095" y="384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26A9BE"/>
                </a:solidFill>
                <a:latin typeface="Calibri"/>
              </a:rPr>
              <a:t>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1911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468880"/>
                <a:gridCol w="6583680"/>
              </a:tblGrid>
              <a:tr h="3822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Workflow</a:t>
                      </a:r>
                    </a:p>
                  </a:txBody>
                  <a:tcPr anchor="ctr">
                    <a:solidFill>
                      <a:srgbClr val="194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Trigger</a:t>
                      </a:r>
                    </a:p>
                  </a:txBody>
                  <a:tcPr anchor="ctr">
                    <a:solidFill>
                      <a:srgbClr val="194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anchor="ctr">
                    <a:solidFill>
                      <a:srgbClr val="19415E"/>
                    </a:solidFill>
                  </a:tcPr>
                </a:tc>
              </a:tr>
              <a:tr h="3822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test-suite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push, pull request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Guard on every change: unit, then the fast slice, then the report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bulk-nightly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00:00 IST, or on demand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The volume tier, unattended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  <a:tr h="3822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manual-run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Run workflow button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Pick a profile, or type any tag expression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_run-suite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called by the two above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Broker, deploy key, service build, report publishing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931920"/>
            <a:ext cx="11155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B6B78"/>
                </a:solidFill>
                <a:latin typeface="Calibri"/>
              </a:rPr>
              <a:t>•  Split by question, not convenience. The nightly asks whether anything is lost across a thousand bookings; the manual run asks whether the change just made works.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5B6B78"/>
                </a:solidFill>
                <a:latin typeface="Calibri"/>
              </a:rPr>
              <a:t>•  One shared implementation, so the scheduled and on-demand runs cannot drift apart.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5B6B78"/>
                </a:solidFill>
                <a:latin typeface="Calibri"/>
              </a:rPr>
              <a:t>•  Reports are published even when the run fails - which is exactly when they are worth reading.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5B6B78"/>
                </a:solidFill>
                <a:latin typeface="Calibri"/>
              </a:rPr>
              <a:t>•  The service is built from source with a read-only deploy key, never a committed jar.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z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309360"/>
            <a:ext cx="2286000" cy="411480"/>
          </a:xfrm>
          <a:prstGeom prst="rect">
            <a:avLst/>
          </a:prstGeom>
        </p:spPr>
      </p:pic>
      <p:pic>
        <p:nvPicPr>
          <p:cNvPr id="3" name="Picture 2" descr="Company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6309360"/>
            <a:ext cx="205740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19415E"/>
                </a:solidFill>
                <a:latin typeface="Calibri"/>
              </a:rPr>
              <a:t>How the test data is given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5B6B78"/>
                </a:solidFill>
                <a:latin typeface="Calibri"/>
              </a:rPr>
              <a:t>One CSV. It generates the feature file, so there is no second copy to drift.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463040" cy="44450"/>
          </a:xfrm>
          <a:prstGeom prst="rect">
            <a:avLst/>
          </a:prstGeom>
          <a:solidFill>
            <a:srgbClr val="26A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20095" y="384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26A9BE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760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19415E"/>
                </a:solidFill>
                <a:latin typeface="Consolas"/>
              </a:rPr>
              <a:t>src/test/resources/testdata/city-cases.csv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19415E"/>
                </a:solidFill>
                <a:latin typeface="Calibri"/>
              </a:rPr>
              <a:t>50 rows, 9 columns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19415E"/>
                </a:solidFill>
                <a:latin typeface="Consolas"/>
              </a:rPr>
              <a:t>caseId · field · input · expected · outcome</a:t>
            </a:r>
          </a:p>
          <a:p>
            <a:pPr>
              <a:spcAft>
                <a:spcPts val="1200"/>
              </a:spcAft>
            </a:pPr>
            <a:r>
              <a:rPr sz="1100" b="0" i="0">
                <a:solidFill>
                  <a:srgbClr val="19415E"/>
                </a:solidFill>
                <a:latin typeface="Consolas"/>
              </a:rPr>
              <a:t>reason · confidence · tags · note</a:t>
            </a:r>
          </a:p>
          <a:p>
            <a:pPr>
              <a:spcAft>
                <a:spcPts val="1000"/>
              </a:spcAft>
            </a:pPr>
            <a:r>
              <a:rPr sz="1200" b="0" i="0">
                <a:solidFill>
                  <a:srgbClr val="5B6B78"/>
                </a:solidFill>
                <a:latin typeface="Calibri"/>
              </a:rPr>
              <a:t>Two sentinels carry what CSV cannot express: &lt;ABSENT&gt; omits the field from the JSON entirely, and a bare null writes a JSON null - distinct from an empty string. All three must flag as missing, which is why all three exist.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5B6B78"/>
                </a:solidFill>
                <a:latin typeface="Calibri"/>
              </a:rPr>
              <a:t>One scenario per row, never a Scenario Outline: Gherkin cannot tag an individual example row, so an outline would give fifty cases one shared tag.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691640"/>
            <a:ext cx="5166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 i="0">
                <a:solidFill>
                  <a:srgbClr val="19415E"/>
                </a:solidFill>
                <a:latin typeface="Calibri"/>
              </a:rPr>
              <a:t>Adding a case is refused politely, never silently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19415E"/>
                </a:solidFill>
                <a:latin typeface="Calibri"/>
              </a:rPr>
              <a:t>1.  Add the CSV row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19415E"/>
                </a:solidFill>
                <a:latin typeface="Calibri"/>
              </a:rPr>
              <a:t>2.  Add its destination mirror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19415E"/>
                </a:solidFill>
                <a:latin typeface="Calibri"/>
              </a:rPr>
              <a:t>3.  Register both in the planned catalogue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19415E"/>
                </a:solidFill>
                <a:latin typeface="Calibri"/>
              </a:rPr>
              <a:t>4.  State the clause each one proves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19415E"/>
                </a:solidFill>
                <a:latin typeface="Calibri"/>
              </a:rPr>
              <a:t>5.  Regenerate, and run it</a:t>
            </a:r>
          </a:p>
          <a:p>
            <a:pPr>
              <a:spcAft>
                <a:spcPts val="0"/>
              </a:spcAft>
            </a:pPr>
            <a:r>
              <a:rPr sz="1150" b="0" i="1">
                <a:solidFill>
                  <a:srgbClr val="5B6B78"/>
                </a:solidFill>
                <a:latin typeface="Calibri"/>
              </a:rPr>
              <a:t>Miss step 2 and the build says: "a rule proven only on origin is not proven on destination". Miss step 3: "absent from the catalogue". Miss step 4: "cannot be traced to anything".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z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309360"/>
            <a:ext cx="2286000" cy="411480"/>
          </a:xfrm>
          <a:prstGeom prst="rect">
            <a:avLst/>
          </a:prstGeom>
        </p:spPr>
      </p:pic>
      <p:pic>
        <p:nvPicPr>
          <p:cNvPr id="3" name="Picture 2" descr="Company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6309360"/>
            <a:ext cx="205740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19415E"/>
                </a:solidFill>
                <a:latin typeface="Calibri"/>
              </a:rPr>
              <a:t>The Test Execution Summary Report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5B6B78"/>
                </a:solidFill>
                <a:latin typeface="Calibri"/>
              </a:rPr>
              <a:t>Templated over data, so every figure on the page traces to a file you can open.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463040" cy="44450"/>
          </a:xfrm>
          <a:prstGeom prst="rect">
            <a:avLst/>
          </a:prstGeom>
          <a:solidFill>
            <a:srgbClr val="26A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20095" y="384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26A9BE"/>
                </a:solidFill>
                <a:latin typeface="Calibri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2606040" cy="777240"/>
          </a:xfrm>
          <a:prstGeom prst="rect">
            <a:avLst/>
          </a:prstGeom>
          <a:solidFill>
            <a:srgbClr val="EFEFEE"/>
          </a:solidFill>
          <a:ln w="12700">
            <a:solidFill>
              <a:srgbClr val="26A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883664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19415E"/>
                </a:solidFill>
                <a:latin typeface="Consolas"/>
              </a:rPr>
              <a:t>cucumber.json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5B6B78"/>
                </a:solidFill>
                <a:latin typeface="Calibri"/>
              </a:rPr>
              <a:t>what actually ran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5848" y="1783080"/>
            <a:ext cx="2606040" cy="777240"/>
          </a:xfrm>
          <a:prstGeom prst="rect">
            <a:avLst/>
          </a:prstGeom>
          <a:solidFill>
            <a:srgbClr val="EFEFEE"/>
          </a:solidFill>
          <a:ln w="12700">
            <a:solidFill>
              <a:srgbClr val="26A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5576" y="1883664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19415E"/>
                </a:solidFill>
                <a:latin typeface="Consolas"/>
              </a:rPr>
              <a:t>spec/*.yaml  (7 files)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5B6B78"/>
                </a:solidFill>
                <a:latin typeface="Calibri"/>
              </a:rPr>
              <a:t>the plan, criteria, 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8776" y="1783080"/>
            <a:ext cx="2606040" cy="777240"/>
          </a:xfrm>
          <a:prstGeom prst="rect">
            <a:avLst/>
          </a:prstGeom>
          <a:solidFill>
            <a:srgbClr val="EFEFEE"/>
          </a:solidFill>
          <a:ln w="12700">
            <a:solidFill>
              <a:srgbClr val="26A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883664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19415E"/>
                </a:solidFill>
                <a:latin typeface="Consolas"/>
              </a:rPr>
              <a:t>defects.csv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5B6B78"/>
                </a:solidFill>
                <a:latin typeface="Calibri"/>
              </a:rPr>
              <a:t>the defect register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61704" y="1783080"/>
            <a:ext cx="2606040" cy="777240"/>
          </a:xfrm>
          <a:prstGeom prst="rect">
            <a:avLst/>
          </a:prstGeom>
          <a:solidFill>
            <a:srgbClr val="EFEFEE"/>
          </a:solidFill>
          <a:ln w="12700">
            <a:solidFill>
              <a:srgbClr val="26A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71432" y="1883664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19415E"/>
                </a:solidFill>
                <a:latin typeface="Consolas"/>
              </a:rPr>
              <a:t>history.jsonl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5B6B78"/>
                </a:solidFill>
                <a:latin typeface="Calibri"/>
              </a:rPr>
              <a:t>previous cycles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852160" y="2697480"/>
            <a:ext cx="457200" cy="411480"/>
          </a:xfrm>
          <a:prstGeom prst="downArrow">
            <a:avLst/>
          </a:prstGeom>
          <a:solidFill>
            <a:srgbClr val="26A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77440" y="3200400"/>
            <a:ext cx="7406640" cy="658368"/>
          </a:xfrm>
          <a:prstGeom prst="rect">
            <a:avLst/>
          </a:prstGeom>
          <a:solidFill>
            <a:srgbClr val="194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600" y="3310128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ReportGenerator  →  report-data.json  →  report-template.html  →  the HTML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1148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B6B78"/>
                </a:solidFill>
                <a:latin typeface="Calibri"/>
              </a:rPr>
              <a:t>•  No figure is a literal. Search the template for a percentage and the only matches are stylesheet rules.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5B6B78"/>
                </a:solidFill>
                <a:latin typeface="Calibri"/>
              </a:rPr>
              <a:t>•  Executed is shown against planned, taken from the case catalogue - so an incomplete run reads as incomplete.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5B6B78"/>
                </a:solidFill>
                <a:latin typeface="Calibri"/>
              </a:rPr>
              <a:t>•  A metric that cannot be measured yet says "not measured" rather than publishing a constant.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5B6B78"/>
                </a:solidFill>
                <a:latin typeface="Calibri"/>
              </a:rPr>
              <a:t>•  A golden test fails the build if any figure is ever replaced by a hard-coded 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z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309360"/>
            <a:ext cx="2286000" cy="411480"/>
          </a:xfrm>
          <a:prstGeom prst="rect">
            <a:avLst/>
          </a:prstGeom>
        </p:spPr>
      </p:pic>
      <p:pic>
        <p:nvPicPr>
          <p:cNvPr id="3" name="Picture 2" descr="Company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6309360"/>
            <a:ext cx="205740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19415E"/>
                </a:solidFill>
                <a:latin typeface="Calibri"/>
              </a:rPr>
              <a:t>Proving the suite can fail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5B6B78"/>
                </a:solidFill>
                <a:latin typeface="Calibri"/>
              </a:rPr>
              <a:t>A stub replays fixtures in place of the service, so the suite can be broken on purpose.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463040" cy="44450"/>
          </a:xfrm>
          <a:prstGeom prst="rect">
            <a:avLst/>
          </a:prstGeom>
          <a:solidFill>
            <a:srgbClr val="26A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20095" y="384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26A9BE"/>
                </a:solidFill>
                <a:latin typeface="Calibri"/>
              </a:rPr>
              <a:t>09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5120640"/>
                <a:gridCol w="3566160"/>
              </a:tblGrid>
              <a:tr h="38796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Fixture</a:t>
                      </a:r>
                    </a:p>
                  </a:txBody>
                  <a:tcPr anchor="ctr">
                    <a:solidFill>
                      <a:srgbClr val="194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breaks</a:t>
                      </a:r>
                    </a:p>
                  </a:txBody>
                  <a:tcPr anchor="ctr">
                    <a:solidFill>
                      <a:srgbClr val="194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Scenarios that must go red</a:t>
                      </a:r>
                    </a:p>
                  </a:txBody>
                  <a:tcPr anchor="ctr">
                    <a:solidFill>
                      <a:srgbClr val="19415E"/>
                    </a:solidFill>
                  </a:tcPr>
                </a:tc>
              </a:tr>
              <a:tr h="38796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mut-floor-lowered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Accepts an input below the confidence floor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TC-77, TC-177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796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mut-no-collapse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Leaves internal whitespace uncollapsed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TC-05, TC-80, TC-105, TC-180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  <a:tr h="38796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mut-field-swap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Reports destination outcomes under origin reasons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8 scenarios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796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mut-const-key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Emits a constant message key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TC-35, TC-36, TC-52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  <a:tr h="38796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mut-silent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Emits nothing at 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TC-32, TC-63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79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mut-route-swap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Swaps one enriched and one flagged booking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9415E"/>
                          </a:solidFill>
                          <a:latin typeface="Calibri"/>
                        </a:rPr>
                        <a:t>TC-60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57200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9415E"/>
                </a:solidFill>
                <a:latin typeface="Calibri"/>
              </a:rPr>
              <a:t>Baseline green across 99 cases. All 15 fixtures turned exactly their expected scenarios red - no more, no fewer. The whole check runs with the service absent from disk, which is the point: against a service you host, we could not modify it to prove our tests 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z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309360"/>
            <a:ext cx="2286000" cy="411480"/>
          </a:xfrm>
          <a:prstGeom prst="rect">
            <a:avLst/>
          </a:prstGeom>
        </p:spPr>
      </p:pic>
      <p:pic>
        <p:nvPicPr>
          <p:cNvPr id="3" name="Picture 2" descr="Company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6309360"/>
            <a:ext cx="205740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19415E"/>
                </a:solidFill>
                <a:latin typeface="Calibri"/>
              </a:rPr>
              <a:t>What this gives you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5B6B78"/>
                </a:solidFill>
                <a:latin typeface="Calibri"/>
              </a:rPr>
              <a:t>A suite that is portable, self-verifying, and honest about what it found.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463040" cy="44450"/>
          </a:xfrm>
          <a:prstGeom prst="rect">
            <a:avLst/>
          </a:prstGeom>
          <a:solidFill>
            <a:srgbClr val="26A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20095" y="384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26A9BE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9415E"/>
                </a:solidFill>
                <a:latin typeface="Calibri"/>
              </a:rPr>
              <a:t>Ready to point at your service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5B6B78"/>
                </a:solidFill>
                <a:latin typeface="Calibri"/>
              </a:rPr>
              <a:t>•  Runs against a service it did not start, with no service jar present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5B6B78"/>
                </a:solidFill>
                <a:latin typeface="Calibri"/>
              </a:rPr>
              <a:t>•  Uses your topic names verbatim, creates and deletes nothing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5B6B78"/>
                </a:solidFill>
                <a:latin typeface="Calibri"/>
              </a:rPr>
              <a:t>•  Namespaces its own bookings, so it ignores traffic it did not publish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5B6B78"/>
                </a:solidFill>
                <a:latin typeface="Calibri"/>
              </a:rPr>
              <a:t>•  A preflight reports broker, topics and readiness before any test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9415E"/>
                </a:solidFill>
                <a:latin typeface="Calibri"/>
              </a:rPr>
              <a:t>And it questions itself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5B6B78"/>
                </a:solidFill>
                <a:latin typeface="Calibri"/>
              </a:rPr>
              <a:t>•  Every documented command is verified by the build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5B6B78"/>
                </a:solidFill>
                <a:latin typeface="Calibri"/>
              </a:rPr>
              <a:t>•  The traceability matrix is generated, and drift fails the build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5B6B78"/>
                </a:solidFill>
                <a:latin typeface="Calibri"/>
              </a:rPr>
              <a:t>•  The report recommends, and states the conditions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3977639"/>
            <a:ext cx="5394960" cy="1463040"/>
          </a:xfrm>
          <a:prstGeom prst="rect">
            <a:avLst/>
          </a:prstGeom>
          <a:solidFill>
            <a:srgbClr val="EFEFEE"/>
          </a:solidFill>
          <a:ln w="19050">
            <a:solidFill>
              <a:srgbClr val="26A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1148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9415E"/>
                </a:solidFill>
                <a:latin typeface="Calibri"/>
              </a:rPr>
              <a:t>The mutation check contradicted our own specification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5B6B78"/>
                </a:solidFill>
                <a:latin typeface="Calibri"/>
              </a:rPr>
              <a:t>It claimed two independent mechanisms protected topic routing. One fixture proved there is one. That finding is why the report reads "proceed with conditions".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